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7" r:id="rId5"/>
    <p:sldId id="275" r:id="rId6"/>
    <p:sldId id="274" r:id="rId7"/>
    <p:sldId id="273" r:id="rId8"/>
    <p:sldId id="272" r:id="rId9"/>
    <p:sldId id="271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7.xml"/><Relationship Id="rId3" Type="http://schemas.openxmlformats.org/officeDocument/2006/relationships/image" Target="../media/image1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3" Type="http://schemas.openxmlformats.org/officeDocument/2006/relationships/image" Target="../media/image2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3.xml"/><Relationship Id="rId3" Type="http://schemas.openxmlformats.org/officeDocument/2006/relationships/image" Target="../media/image2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6.xml"/><Relationship Id="rId3" Type="http://schemas.openxmlformats.org/officeDocument/2006/relationships/image" Target="../media/image2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9.xml"/><Relationship Id="rId3" Type="http://schemas.openxmlformats.org/officeDocument/2006/relationships/image" Target="../media/image2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2.xml"/><Relationship Id="rId3" Type="http://schemas.openxmlformats.org/officeDocument/2006/relationships/image" Target="../media/image2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5.xml"/><Relationship Id="rId3" Type="http://schemas.openxmlformats.org/officeDocument/2006/relationships/image" Target="../media/image2.png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8.xml"/><Relationship Id="rId3" Type="http://schemas.openxmlformats.org/officeDocument/2006/relationships/image" Target="../media/image2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1.xml"/><Relationship Id="rId3" Type="http://schemas.openxmlformats.org/officeDocument/2006/relationships/image" Target="../media/image2.png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4.xml"/><Relationship Id="rId3" Type="http://schemas.openxmlformats.org/officeDocument/2006/relationships/image" Target="../media/image2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7.xml"/><Relationship Id="rId3" Type="http://schemas.openxmlformats.org/officeDocument/2006/relationships/image" Target="../media/image2.png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0.xml"/><Relationship Id="rId3" Type="http://schemas.openxmlformats.org/officeDocument/2006/relationships/image" Target="../media/image2.png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3.xml"/><Relationship Id="rId3" Type="http://schemas.openxmlformats.org/officeDocument/2006/relationships/image" Target="../media/image2.png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6.xml"/><Relationship Id="rId3" Type="http://schemas.openxmlformats.org/officeDocument/2006/relationships/image" Target="../media/image2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9.xml"/><Relationship Id="rId3" Type="http://schemas.openxmlformats.org/officeDocument/2006/relationships/image" Target="../media/image2.png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2.xml"/><Relationship Id="rId3" Type="http://schemas.openxmlformats.org/officeDocument/2006/relationships/image" Target="../media/image2.png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5.xml"/><Relationship Id="rId3" Type="http://schemas.openxmlformats.org/officeDocument/2006/relationships/image" Target="../media/image2.png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8.xml"/><Relationship Id="rId3" Type="http://schemas.openxmlformats.org/officeDocument/2006/relationships/image" Target="../media/image2.png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1.xml"/><Relationship Id="rId3" Type="http://schemas.openxmlformats.org/officeDocument/2006/relationships/image" Target="../media/image2.png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4.xml"/><Relationship Id="rId3" Type="http://schemas.openxmlformats.org/officeDocument/2006/relationships/image" Target="../media/image2.png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Screenshot 2026-10-05 19515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37720" cy="685101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179320" y="1164590"/>
            <a:ext cx="8242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latin typeface="Matura MT Script Capitals" panose="03020802060602070202" charset="0"/>
                <a:cs typeface="Matura MT Script Capitals" panose="03020802060602070202" charset="0"/>
              </a:rPr>
              <a:t>Student Academic Performance Dashboard</a:t>
            </a:r>
            <a:endParaRPr lang="en-US" altLang="en-US" sz="3200">
              <a:latin typeface="Matura MT Script Capitals" panose="03020802060602070202" charset="0"/>
              <a:cs typeface="Matura MT Script Capitals" panose="03020802060602070202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19880" y="2802890"/>
            <a:ext cx="3100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Presenter Details: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287645" y="3279775"/>
            <a:ext cx="4001135" cy="1695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 b="1">
                <a:latin typeface="Lucida Handwriting" panose="03010101010101010101" charset="0"/>
                <a:cs typeface="Lucida Handwriting" panose="03010101010101010101" charset="0"/>
              </a:rPr>
              <a:t>Name: </a:t>
            </a:r>
            <a:r>
              <a:rPr lang="en-US" altLang="en-US">
                <a:latin typeface="Lucida Handwriting" panose="03010101010101010101" charset="0"/>
                <a:cs typeface="Lucida Handwriting" panose="03010101010101010101" charset="0"/>
              </a:rPr>
              <a:t>P.R.Dharshini</a:t>
            </a:r>
            <a:endParaRPr lang="en-US" altLang="en-US">
              <a:latin typeface="Lucida Handwriting" panose="03010101010101010101" charset="0"/>
              <a:cs typeface="Lucida Handwriting" panose="03010101010101010101" charset="0"/>
            </a:endParaRPr>
          </a:p>
          <a:p>
            <a:pPr>
              <a:lnSpc>
                <a:spcPct val="80000"/>
              </a:lnSpc>
            </a:pPr>
            <a:endParaRPr lang="en-US" altLang="en-US">
              <a:latin typeface="Lucida Handwriting" panose="03010101010101010101" charset="0"/>
              <a:cs typeface="Lucida Handwriting" panose="03010101010101010101" charset="0"/>
            </a:endParaRPr>
          </a:p>
          <a:p>
            <a:pPr>
              <a:lnSpc>
                <a:spcPct val="80000"/>
              </a:lnSpc>
            </a:pPr>
            <a:r>
              <a:rPr lang="en-US" altLang="en-US" b="1">
                <a:latin typeface="Lucida Handwriting" panose="03010101010101010101" charset="0"/>
                <a:cs typeface="Lucida Handwriting" panose="03010101010101010101" charset="0"/>
              </a:rPr>
              <a:t>Student ID: </a:t>
            </a:r>
            <a:r>
              <a:rPr lang="en-US" altLang="en-US">
                <a:latin typeface="Lucida Handwriting" panose="03010101010101010101" charset="0"/>
                <a:cs typeface="Lucida Handwriting" panose="03010101010101010101" charset="0"/>
              </a:rPr>
              <a:t>AF05321825</a:t>
            </a:r>
            <a:endParaRPr lang="en-US" altLang="en-US">
              <a:latin typeface="Lucida Handwriting" panose="03010101010101010101" charset="0"/>
              <a:cs typeface="Lucida Handwriting" panose="03010101010101010101" charset="0"/>
            </a:endParaRPr>
          </a:p>
          <a:p>
            <a:pPr>
              <a:lnSpc>
                <a:spcPct val="80000"/>
              </a:lnSpc>
            </a:pPr>
            <a:endParaRPr lang="en-US" altLang="en-US">
              <a:latin typeface="Lucida Handwriting" panose="03010101010101010101" charset="0"/>
              <a:cs typeface="Lucida Handwriting" panose="03010101010101010101" charset="0"/>
            </a:endParaRPr>
          </a:p>
          <a:p>
            <a:pPr>
              <a:lnSpc>
                <a:spcPct val="80000"/>
              </a:lnSpc>
            </a:pPr>
            <a:r>
              <a:rPr lang="en-US" altLang="en-US" b="1">
                <a:latin typeface="Lucida Handwriting" panose="03010101010101010101" charset="0"/>
                <a:cs typeface="Lucida Handwriting" panose="03010101010101010101" charset="0"/>
              </a:rPr>
              <a:t>Batch Code: </a:t>
            </a:r>
            <a:r>
              <a:rPr lang="en-US" altLang="en-US">
                <a:latin typeface="Lucida Handwriting" panose="03010101010101010101" charset="0"/>
                <a:cs typeface="Lucida Handwriting" panose="03010101010101010101" charset="0"/>
              </a:rPr>
              <a:t>ANP-D7525</a:t>
            </a:r>
            <a:endParaRPr lang="en-US" altLang="en-US">
              <a:latin typeface="Lucida Handwriting" panose="03010101010101010101" charset="0"/>
              <a:cs typeface="Lucida Handwriting" panose="03010101010101010101" charset="0"/>
            </a:endParaRPr>
          </a:p>
          <a:p>
            <a:endParaRPr lang="en-US" altLang="en-US">
              <a:latin typeface="Lucida Handwriting" panose="03010101010101010101" charset="0"/>
              <a:cs typeface="Lucida Handwriting" panose="03010101010101010101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169160" y="384175"/>
            <a:ext cx="7332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Introduction &amp; Project Scope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77620" y="1322705"/>
            <a:ext cx="9630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Scope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Comprehensive analysis of 10,000 student records across academic, engagement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46250" y="2137410"/>
            <a:ext cx="8889365" cy="2469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Core Objectives: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Identify key drivers impacting exam scores and attendance rates.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Evaluate student engagement through discussion forums and online course completion.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Understand lifestyle factors including stress levels, sleep, and social media usage.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Deliver an interactive multi-page dashboard for academic decision-makers.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buFont typeface="Wingdings" panose="05000000000000000000" charset="0"/>
              <a:buChar char="v"/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995035" y="539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966085" y="60833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Problem Statement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89380" y="1415415"/>
            <a:ext cx="8977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Educational institutions face challenges identifying early indicators of academic disengagement and grade variations.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81150" y="2355850"/>
            <a:ext cx="9147175" cy="328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Key Challenges: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 sz="1600"/>
              <a:t>Disconnect between student learning preferences (Visual, Auditory, Kinesthetic, Reading/Writing) and standardized exam performance.</a:t>
            </a:r>
            <a:endParaRPr lang="en-US" altLang="en-US" sz="1600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 sz="1600"/>
              <a:t>Unclear impact of digital tools (EdTech, online courses) and discussion forums on actual academic outcomes.</a:t>
            </a:r>
            <a:endParaRPr lang="en-US" altLang="en-US" sz="1600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1600"/>
              <a:t>Unmonitored lifestyle pressures (high stress, excessive social media usage) negatively impacting class attendance.</a:t>
            </a:r>
            <a:endParaRPr lang="en-US" altLang="en-US" sz="1600"/>
          </a:p>
          <a:p>
            <a:pPr>
              <a:lnSpc>
                <a:spcPct val="11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Goal:</a:t>
            </a:r>
            <a:endParaRPr lang="en-US" altLang="en-US"/>
          </a:p>
          <a:p>
            <a:pPr>
              <a:lnSpc>
                <a:spcPct val="110000"/>
              </a:lnSpc>
            </a:pPr>
            <a:r>
              <a:rPr lang="en-IN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Leverage data-driven insights to optimize support systems, curriculum delivery, and 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altLang="en-US" sz="160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intervention</a:t>
            </a:r>
            <a:r>
              <a:rPr lang="en-IN" alt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strategies.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813685" y="6024245"/>
            <a:ext cx="8569325" cy="55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</a:rPr>
              <a:t>Key Insight: </a:t>
            </a:r>
            <a:r>
              <a:rPr lang="en-US" altLang="en-US" sz="15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</a:rPr>
              <a:t>Proactive data analysis helps bridge the gap between student habits and academic success.</a:t>
            </a:r>
            <a:endParaRPr lang="en-US" altLang="en-US" sz="15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828290" y="477520"/>
            <a:ext cx="6012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Raw Data Analysis &amp; Dataset Overview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77440" y="1167765"/>
            <a:ext cx="8951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Dataset Scope: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10,000 individual student records across 15 key attributes.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25295" y="2211705"/>
            <a:ext cx="9160510" cy="2544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 Fields Breakdown: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Demographics: Student_ID, Age (18–30), Gender (Female, Male, Other).</a:t>
            </a:r>
            <a:endParaRPr lang="en-US" altLang="en-US" sz="16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Academic Metrics: Exam_Score (%), Attendance_Rate (%), Final_Grade (A, B, C, D).</a:t>
            </a:r>
            <a:endParaRPr lang="en-US" altLang="en-US" sz="16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Study Habits &amp; Tech: Study_Hours_per_Week, Preferred_Learning_Style, Use_of_Educational_Tech.</a:t>
            </a:r>
            <a:endParaRPr lang="en-US" altLang="en-US" sz="16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Engagement &amp; Lifestyle: Online_Courses_Completed, Participation_in_Discussions, Self_Reported_Stress_Level, Sleep_Hours_per_Night, Time_Spent_on_Social_Media.</a:t>
            </a:r>
            <a:endParaRPr lang="en-US" alt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2357755" y="5825490"/>
            <a:ext cx="921956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1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The dataset provides a full 360-degree view of student academic and personal profiles.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703705" y="1572895"/>
            <a:ext cx="9477375" cy="3510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 Quality &amp; Hygiene: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Verified 0 missing or null values across all 10,000 records.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Standardized percentage scales (Exam Score, Attendance Rate, Assignment Completion) to single decimal accuracy.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Feature Engineering &amp; Categorization: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Age Grouping: Binned into 18–21, 22–25, and 26–30 age cohorts.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Course Progression Bins: Grouped into ranges (0–5, 6–10, 11–15, 16–20 completed courses).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 Modeling: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Created explicit DAX/Pivot metrics for dashboard scorecards and dynamic filtering.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charset="0"/>
              <a:buChar char="§"/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788285" y="516255"/>
            <a:ext cx="55448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Data Preprocessing &amp; Data Hygiene</a:t>
            </a:r>
            <a:endParaRPr 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788285" y="5741670"/>
            <a:ext cx="8817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Rigorous data preprocessing ensures accurate downstream analytics and seamless dashboard performance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336290" y="415290"/>
            <a:ext cx="6339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Key Performance Indicators (KPI Cards)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2203450" y="1691005"/>
          <a:ext cx="8153400" cy="3078480"/>
        </p:xfrm>
        <a:graphic>
          <a:graphicData uri="http://schemas.openxmlformats.org/drawingml/2006/table">
            <a:tbl>
              <a:tblPr/>
              <a:tblGrid>
                <a:gridCol w="3514090"/>
                <a:gridCol w="4639310"/>
              </a:tblGrid>
              <a:tr h="5816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Metric</a:t>
                      </a:r>
                      <a:endParaRPr sz="1800" b="1">
                        <a:solidFill>
                          <a:srgbClr val="1F1F1F"/>
                        </a:solidFill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Times New Roman" panose="02020603050405020304" charset="0"/>
                          <a:ea typeface="Times New Roman" panose="02020603050405020304"/>
                          <a:cs typeface="Times New Roman" panose="02020603050405020304" charset="0"/>
                        </a:rPr>
                        <a:t>Value</a:t>
                      </a:r>
                      <a:endParaRPr sz="1800" b="1">
                        <a:solidFill>
                          <a:srgbClr val="1F1F1F"/>
                        </a:solidFill>
                        <a:latin typeface="Times New Roman" panose="02020603050405020304" charset="0"/>
                        <a:ea typeface="Times New Roman" panose="02020603050405020304"/>
                        <a:cs typeface="Times New Roman" panose="0202060305040502030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7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Total Enrolled Students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10,000 Students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95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Average Exam Score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70.19%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911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Class Attendance Rate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75.09%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97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Weekly Study Time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27.13 Hours / Week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Total Online Courses Completed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100,079 Courses (Avg: 10.01 courses/student)</a:t>
                      </a:r>
                      <a:endParaRPr sz="1600">
                        <a:solidFill>
                          <a:srgbClr val="1F1F1F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 anchorCtr="0">
                    <a:lnL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2553335" y="5581650"/>
            <a:ext cx="871283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Core performance benchmarks display stable overall academic health across the student population.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08530" y="476885"/>
            <a:ext cx="79914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Q1: Exam Score by Preferred Learning Style &amp; Gender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123565" y="1489710"/>
            <a:ext cx="8209280" cy="368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Auditory: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/>
          </a:p>
          <a:p>
            <a:pPr indent="457200">
              <a:lnSpc>
                <a:spcPct val="80000"/>
              </a:lnSpc>
            </a:pPr>
            <a:r>
              <a:rPr lang="en-US" altLang="en-US"/>
              <a:t>Female (70.72%) | Male (70.30%) | Other (70.10%)</a:t>
            </a:r>
            <a:endParaRPr lang="en-US" altLang="en-US"/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Kinesthetic: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80000"/>
              </a:lnSpc>
            </a:pPr>
            <a:endParaRPr lang="en-US" altLang="en-US"/>
          </a:p>
          <a:p>
            <a:pPr indent="457200">
              <a:lnSpc>
                <a:spcPct val="80000"/>
              </a:lnSpc>
            </a:pPr>
            <a:r>
              <a:rPr lang="en-US" altLang="en-US"/>
              <a:t>Female (70.74%) | Male (69.94%) | Other (70.23%)</a:t>
            </a:r>
            <a:endParaRPr lang="en-US" altLang="en-US"/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Reading/Writing:</a:t>
            </a:r>
            <a:r>
              <a:rPr lang="en-US" altLang="en-US"/>
              <a:t> </a:t>
            </a:r>
            <a:endParaRPr lang="en-US" altLang="en-US"/>
          </a:p>
          <a:p>
            <a:pPr>
              <a:lnSpc>
                <a:spcPct val="80000"/>
              </a:lnSpc>
            </a:pPr>
            <a:endParaRPr lang="en-US" altLang="en-US"/>
          </a:p>
          <a:p>
            <a:pPr indent="457200">
              <a:lnSpc>
                <a:spcPct val="80000"/>
              </a:lnSpc>
            </a:pPr>
            <a:r>
              <a:rPr lang="en-US" altLang="en-US"/>
              <a:t>Female (69.64%) | Male (69.74%) | Other (73.08%)</a:t>
            </a:r>
            <a:endParaRPr lang="en-US" altLang="en-US"/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Visual: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/>
          </a:p>
          <a:p>
            <a:pPr indent="457200">
              <a:lnSpc>
                <a:spcPct val="80000"/>
              </a:lnSpc>
            </a:pPr>
            <a:r>
              <a:rPr lang="en-US" altLang="en-US"/>
              <a:t>Female (69.68%) | Male (70.65%) | Other (68.63%)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2682875" y="5621655"/>
            <a:ext cx="833247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Exam scores remain consistent (~70%) regardless of learning style or gender, proving effective multimodal instruction.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66035" y="476885"/>
            <a:ext cx="7071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Q2: Class Attendance Rate by Age Group &amp; Gender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37205" y="1499870"/>
            <a:ext cx="6960235" cy="3105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Age 18–21: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90000"/>
              </a:lnSpc>
            </a:pPr>
            <a:b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US"/>
              <a:t>Female (74.76%) | Male (75.82%) | Other (75.21%)</a:t>
            </a:r>
            <a:endParaRPr lang="en-US" altLang="en-US"/>
          </a:p>
          <a:p>
            <a:pPr algn="l">
              <a:lnSpc>
                <a:spcPct val="90000"/>
              </a:lnSpc>
            </a:pPr>
            <a:endParaRPr lang="en-US" altLang="en-US"/>
          </a:p>
          <a:p>
            <a:pPr algn="l">
              <a:lnSpc>
                <a:spcPct val="9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Age 22–25: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90000"/>
              </a:lnSpc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/>
              <a:t> </a:t>
            </a:r>
            <a:r>
              <a:rPr lang="en-IN" altLang="en-US"/>
              <a:t>    </a:t>
            </a:r>
            <a:r>
              <a:rPr lang="en-US" altLang="en-US"/>
              <a:t>Female (74.98%) | Male (75.41%) | Other (76.01%)</a:t>
            </a:r>
            <a:endParaRPr lang="en-US" altLang="en-US"/>
          </a:p>
          <a:p>
            <a:pPr algn="l">
              <a:lnSpc>
                <a:spcPct val="90000"/>
              </a:lnSpc>
            </a:pPr>
            <a:endParaRPr lang="en-US" altLang="en-US"/>
          </a:p>
          <a:p>
            <a:pPr algn="l">
              <a:lnSpc>
                <a:spcPct val="9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Age 26–30:</a:t>
            </a:r>
            <a:r>
              <a:rPr lang="en-US" altLang="en-US"/>
              <a:t> </a:t>
            </a:r>
            <a:endParaRPr lang="en-US" altLang="en-US"/>
          </a:p>
          <a:p>
            <a:pPr algn="l">
              <a:lnSpc>
                <a:spcPct val="90000"/>
              </a:lnSpc>
            </a:pPr>
            <a:endParaRPr lang="en-US" altLang="en-US"/>
          </a:p>
          <a:p>
            <a:pPr algn="l">
              <a:lnSpc>
                <a:spcPct val="90000"/>
              </a:lnSpc>
            </a:pPr>
            <a:r>
              <a:rPr lang="en-IN" altLang="en-US"/>
              <a:t>     </a:t>
            </a:r>
            <a:r>
              <a:rPr lang="en-US" altLang="en-US"/>
              <a:t>Female (74.77%) | Male (74.73%) | Other (74.59%)</a:t>
            </a:r>
            <a:endParaRPr lang="en-US" altLang="en-US"/>
          </a:p>
          <a:p>
            <a:pPr algn="l"/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2682875" y="5621655"/>
            <a:ext cx="833247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Attendance rates are highly stable at ~75% across all age cohorts and gender categories.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66035" y="476885"/>
            <a:ext cx="7071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Q3: Assignment Completion Rate vs. Final Grade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79240" y="1571625"/>
            <a:ext cx="5558155" cy="2896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Grade A: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30000"/>
              </a:lnSpc>
            </a:pPr>
            <a:r>
              <a:rPr lang="en-US" altLang="en-US" sz="1600"/>
              <a:t>75.05% assignment completion rate</a:t>
            </a:r>
            <a:endParaRPr lang="en-US" altLang="en-US" sz="1600"/>
          </a:p>
          <a:p>
            <a:pPr algn="l">
              <a:lnSpc>
                <a:spcPct val="13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Grade B: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30000"/>
              </a:lnSpc>
            </a:pPr>
            <a:r>
              <a:rPr lang="en-US" altLang="en-US" sz="1600"/>
              <a:t>75.02% assignment completion rate</a:t>
            </a:r>
            <a:endParaRPr lang="en-US" altLang="en-US" sz="1600"/>
          </a:p>
          <a:p>
            <a:pPr algn="l">
              <a:lnSpc>
                <a:spcPct val="13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Grade C: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30000"/>
              </a:lnSpc>
            </a:pPr>
            <a:r>
              <a:rPr lang="en-US" altLang="en-US" sz="1600"/>
              <a:t>75.14% assignment completion rate</a:t>
            </a:r>
            <a:endParaRPr lang="en-US" altLang="en-US" sz="1600"/>
          </a:p>
          <a:p>
            <a:pPr algn="l">
              <a:lnSpc>
                <a:spcPct val="13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Grade D: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30000"/>
              </a:lnSpc>
            </a:pPr>
            <a:r>
              <a:rPr lang="en-US" altLang="en-US" sz="1600"/>
              <a:t>74.46% assignment completion rate</a:t>
            </a:r>
            <a:endParaRPr lang="en-US" altLang="en-US" sz="1600"/>
          </a:p>
          <a:p>
            <a:pPr algn="l"/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682875" y="5621655"/>
            <a:ext cx="833247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Completion rate alone does not dictate top grades; exam mastery and submission quality drive final grade separation.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08530" y="476885"/>
            <a:ext cx="7428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Q4: Weekly Study Hours by Learning Style &amp; Gender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211195" y="1612900"/>
            <a:ext cx="6426200" cy="2846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Auditory: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40000"/>
              </a:lnSpc>
            </a:pPr>
            <a:r>
              <a:rPr lang="en-US" altLang="en-US" sz="1600"/>
              <a:t>Female (26.79 hrs) | Male (27.13 hrs) | Other (28.65 hrs)</a:t>
            </a:r>
            <a:endParaRPr lang="en-US" altLang="en-US" sz="1600"/>
          </a:p>
          <a:p>
            <a:pPr algn="l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Kinesthetic: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40000"/>
              </a:lnSpc>
            </a:pPr>
            <a:r>
              <a:rPr lang="en-US" altLang="en-US" sz="1600"/>
              <a:t>Female (27.80 hrs) | Male (26.89 hrs) | Other (27.80 hrs)</a:t>
            </a:r>
            <a:endParaRPr lang="en-US" altLang="en-US" sz="1600"/>
          </a:p>
          <a:p>
            <a:pPr algn="l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Reading/Writing: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40000"/>
              </a:lnSpc>
            </a:pPr>
            <a:r>
              <a:rPr lang="en-US" altLang="en-US" sz="1600"/>
              <a:t>Female (27.78 hrs) | Male (27.07 hrs) | Other (26.07 hrs)</a:t>
            </a:r>
            <a:endParaRPr lang="en-US" altLang="en-US" sz="1600"/>
          </a:p>
          <a:p>
            <a:pPr algn="l">
              <a:lnSpc>
                <a:spcPct val="140000"/>
              </a:lnSpc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Visual:</a:t>
            </a:r>
            <a:r>
              <a:rPr lang="en-US" altLang="en-US" sz="1600"/>
              <a:t> </a:t>
            </a:r>
            <a:endParaRPr lang="en-US" altLang="en-US" sz="1600"/>
          </a:p>
          <a:p>
            <a:pPr indent="457200" algn="l">
              <a:lnSpc>
                <a:spcPct val="140000"/>
              </a:lnSpc>
            </a:pPr>
            <a:r>
              <a:rPr lang="en-US" altLang="en-US" sz="1600"/>
              <a:t>Female (26.54 hrs) | Male (26.89 hrs) | Other (26.90 hrs)</a:t>
            </a: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682875" y="5621655"/>
            <a:ext cx="833247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Weekly study commitments remain tightly grouped between 26.5 and 28.6 hours across all demographics.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08530" y="476885"/>
            <a:ext cx="7428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Q5: Discussion Participation Impact on Performance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999230" y="1408430"/>
            <a:ext cx="4563110" cy="37331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6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Discussion Participants (Yes):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Weekly Study Time: 27.26 hrs/wk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Assignment Completion: 74.91%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Exam Score: 70.21%</a:t>
            </a:r>
            <a:endParaRPr lang="en-US" altLang="en-US" sz="1600"/>
          </a:p>
          <a:p>
            <a:pPr indent="0" algn="l">
              <a:lnSpc>
                <a:spcPct val="160000"/>
              </a:lnSpc>
              <a:buFont typeface="Arial" panose="020B0604020202020204" pitchFamily="34" charset="0"/>
              <a:buNone/>
            </a:pPr>
            <a:endParaRPr lang="en-US" altLang="en-US" sz="1600"/>
          </a:p>
          <a:p>
            <a:pPr algn="l">
              <a:lnSpc>
                <a:spcPct val="160000"/>
              </a:lnSpc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Non-Participants (No):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Weekly Study Time: 26.94 hrs/wk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Assignment Completion: 74.93%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Exam Score: 70.16%</a:t>
            </a: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765425" y="5682615"/>
            <a:ext cx="858774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Discussion forum participation correlates with slightly higher study effort (+0.32 hrs/wk) while maintaining score parity.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Q6: Online Course Completion vs. Attendance &amp; Study Time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78480" y="1531620"/>
            <a:ext cx="7275830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6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0–5 Courses Completed: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en-US" altLang="en-US" sz="1600"/>
              <a:t>Attendance Rate = 74.97% | Study Hours = 26.82 hrs/wk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6–10 Courses Completed:</a:t>
            </a:r>
            <a:r>
              <a:rPr lang="en-US" altLang="en-US" sz="1700"/>
              <a:t> </a:t>
            </a:r>
            <a:endParaRPr lang="en-US" altLang="en-US" sz="1700"/>
          </a:p>
          <a:p>
            <a:pPr marL="457200" lvl="1" indent="45720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en-US" altLang="en-US" sz="1600"/>
              <a:t>Attendance Rate = 75.32% | Study Hours = 26.59 hrs/wk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11–15 Courses Completed:</a:t>
            </a:r>
            <a:r>
              <a:rPr lang="en-US" altLang="en-US" sz="1700"/>
              <a:t> </a:t>
            </a:r>
            <a:endParaRPr lang="en-US" altLang="en-US" sz="1700"/>
          </a:p>
          <a:p>
            <a:pPr marL="457200" lvl="1" indent="45720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en-US" altLang="en-US" sz="1600"/>
              <a:t>Attendance Rate = 75.12% | Study Hours = 27.85 hrs/wk</a:t>
            </a:r>
            <a:endParaRPr lang="en-US" altLang="en-US" sz="1600"/>
          </a:p>
          <a:p>
            <a:pPr marL="285750" indent="-285750" algn="l">
              <a:lnSpc>
                <a:spcPct val="160000"/>
              </a:lnSpc>
              <a:buFont typeface="Wingdings" panose="05000000000000000000" charset="0"/>
              <a:buChar char="§"/>
            </a:pPr>
            <a:r>
              <a:rPr lang="en-US" altLang="en-US" sz="1700"/>
              <a:t>1</a:t>
            </a: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6–20 Courses Completed: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en-US" altLang="en-US" sz="1600"/>
              <a:t>Attendance Rate = 74.97% | Study Hours = 27.33 hrs/wk</a:t>
            </a: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765425" y="5825490"/>
            <a:ext cx="858774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Students completing 11–15 online courses display the highest dedicated weekly study time (27.85 hrs).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Q7: Lifestyle Balance by Stress Level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26460" y="1675130"/>
            <a:ext cx="6364605" cy="28321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Low Stress: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sz="1600"/>
              <a:t>Sleep = 7.01 hrs/night | Social Media = 15.03 hrs/week</a:t>
            </a:r>
            <a:endParaRPr lang="en-US" altLang="en-US" sz="1600"/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Medium Stress: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sz="1600"/>
              <a:t>Sleep = 6.98 hrs/night | Social Media = 14.87 hrs/week</a:t>
            </a:r>
            <a:endParaRPr lang="en-US" altLang="en-US" sz="1600"/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High Stress: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sz="1600"/>
              <a:t>Sleep = 6.93 hrs/night | Social Media = 14.97 hrs/week</a:t>
            </a: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Higher stress directly correlates with reduced nightly sleep (&lt;6.93 hrs), while social media consumption stays flat (~15 hrs/wk).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Q8: Educational Tech Adoption vs. Study Habits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71620" y="1792605"/>
            <a:ext cx="446087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EdTech Users (Yes):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600"/>
              <a:t>Study Hours = 27.17 hrs/wk</a:t>
            </a:r>
            <a:endParaRPr lang="en-US" altLang="en-US" sz="160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600"/>
              <a:t>Assignment Completion = 74.83%</a:t>
            </a:r>
            <a:endParaRPr lang="en-US" altLang="en-US" sz="1600"/>
          </a:p>
          <a:p>
            <a:pPr indent="0" algn="l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Non-EdTech Users (No):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600"/>
              <a:t>Study Hours = 27.03 hrs/wk</a:t>
            </a:r>
            <a:endParaRPr lang="en-US" altLang="en-US" sz="160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600"/>
              <a:t>Assignment Completion = 75.15%</a:t>
            </a: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Ed</a:t>
            </a:r>
            <a:r>
              <a:rPr lang="en-IN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ucational </a:t>
            </a: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Tech adopters log slightly more study hours (+0.14 hrs/wk), reflecting seamless technological integration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Q9: Social Media Usage vs. Class Attendance Rate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90290" y="1598295"/>
            <a:ext cx="65982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18–21 Age Group: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1600"/>
              <a:t>Social Media = 14.79 hrs/wk | Attendance Rate = 75.28%</a:t>
            </a:r>
            <a:endParaRPr lang="en-US" altLang="en-US" sz="160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22–25 Age Group: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 algn="l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1600"/>
              <a:t>Social Media = 14.89 hrs/wk | Attendance Rate = 75.23%</a:t>
            </a:r>
            <a:endParaRPr lang="en-US" altLang="en-US" sz="160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26–30 Age Group: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1600"/>
              <a:t>Social Media = 15.13 hrs/wk | Attendance Rate = 74.75%</a:t>
            </a: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Older students (26–30) record slightly higher social media usage (15.13 hrs/wk) and a minor drop in attendance.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Visual Charts &amp; Data Representation Strategy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82495" y="1955165"/>
            <a:ext cx="8687435" cy="278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Chart 1 (Clustered Column):</a:t>
            </a:r>
            <a:r>
              <a:rPr lang="en-US" altLang="en-US" sz="1600"/>
              <a:t> Exam Score by Preferred Learning Style &amp; Gender.</a:t>
            </a:r>
            <a:endParaRPr lang="en-US" altLang="en-US" sz="1600"/>
          </a:p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Chart 2 (Grouped Bar Chart): </a:t>
            </a:r>
            <a:r>
              <a:rPr lang="en-US" altLang="en-US" sz="1600"/>
              <a:t>Class Attendance Rate by Age Group &amp; Gender.</a:t>
            </a:r>
            <a:endParaRPr lang="en-US" altLang="en-US" sz="1600"/>
          </a:p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Chart 3 (Horizontal Bar Chart): </a:t>
            </a:r>
            <a:r>
              <a:rPr lang="en-US" altLang="en-US" sz="1600"/>
              <a:t>Assignment Completion Rate across Final Grade Tiers (A–D).</a:t>
            </a:r>
            <a:endParaRPr lang="en-US" altLang="en-US" sz="1600"/>
          </a:p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Chart 4 (Combo Line &amp; Column): </a:t>
            </a:r>
            <a:r>
              <a:rPr lang="en-US" altLang="en-US" sz="1600"/>
              <a:t>Study Hours &amp; Attendance Rate across Online Course Bins.</a:t>
            </a:r>
            <a:endParaRPr lang="en-US" altLang="en-US" sz="1600"/>
          </a:p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Chart 5 (Dual-Axis Line Chart):</a:t>
            </a:r>
            <a:r>
              <a:rPr lang="en-US" altLang="en-US" sz="1600"/>
              <a:t> Nightly Sleep vs. Social Media Usage by Stress Level.</a:t>
            </a:r>
            <a:endParaRPr lang="en-US" altLang="en-US" sz="160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§"/>
            </a:pP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Tailored visualization types ensure complex multidimensional findings are easy to digest.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Interactive Slicers &amp; Filtering Mechanisms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82495" y="1955165"/>
            <a:ext cx="8687435" cy="278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Dashboard Global Slicers Configured: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Gender Slicer: Multi-select (Female, Male, Other).</a:t>
            </a:r>
            <a:endParaRPr lang="en-US" altLang="en-US" sz="1600"/>
          </a:p>
          <a:p>
            <a:pPr marL="285750" indent="-285750" algn="l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1600"/>
              <a:t>Stress Level Slicer: Interactive toggle (Low, Medium, High).</a:t>
            </a:r>
            <a:endParaRPr lang="en-US" altLang="en-US" sz="1600"/>
          </a:p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Interactivity: </a:t>
            </a:r>
            <a:endParaRPr lang="en-US" altLang="en-US" sz="17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220000"/>
              </a:lnSpc>
              <a:buFont typeface="Wingdings" panose="05000000000000000000" charset="0"/>
              <a:buNone/>
            </a:pPr>
            <a:r>
              <a:rPr lang="en-US" altLang="en-US" sz="17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1700" b="1">
                <a:latin typeface="Times New Roman" panose="02020603050405020304" charset="0"/>
                <a:cs typeface="Times New Roman" panose="02020603050405020304" charset="0"/>
              </a:rPr>
              <a:t>           </a:t>
            </a:r>
            <a:r>
              <a:rPr lang="en-US" altLang="en-US" sz="1600"/>
              <a:t>Real-time dynamic cross-filtering across all KPI cards and visual charts.</a:t>
            </a:r>
            <a:endParaRPr lang="en-US" altLang="en-US" sz="1600"/>
          </a:p>
          <a:p>
            <a:pPr indent="0" algn="l">
              <a:lnSpc>
                <a:spcPct val="200000"/>
              </a:lnSpc>
              <a:buFont typeface="Wingdings" panose="05000000000000000000" charset="0"/>
              <a:buNone/>
            </a:pP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Interactive slicing empowers stakeholders to explore granular student cohorts effortlessly.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Dashboard Architecture &amp; Layout Design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71115" y="1791970"/>
            <a:ext cx="8677275" cy="278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Top Header / KPI Panel: </a:t>
            </a:r>
            <a:r>
              <a:rPr lang="en-US" altLang="en-US" sz="1600"/>
              <a:t>Title Banner + 5 KPI Cards </a:t>
            </a:r>
            <a:endParaRPr lang="en-US" altLang="en-US" sz="16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Left Sidebar (Filter Panel):</a:t>
            </a:r>
            <a:r>
              <a:rPr lang="en-US" altLang="en-US" sz="1600"/>
              <a:t> Dedicated space for global dynamic slicers.</a:t>
            </a:r>
            <a:endParaRPr lang="en-US" altLang="en-US" sz="16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Center Canvas (Visual Workspace):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en-US" sz="1600"/>
              <a:t>Section 1: Academic Performance &amp; Demographics (Q1–Q3 Charts).</a:t>
            </a:r>
            <a:endParaRPr lang="en-US" altLang="en-US" sz="1600"/>
          </a:p>
          <a:p>
            <a:pPr indent="45720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sz="1600"/>
              <a:t>Section 2: Study Habits &amp; Digital Engagement (Q4–Q6 Charts).</a:t>
            </a:r>
            <a:endParaRPr lang="en-US" altLang="en-US" sz="1600"/>
          </a:p>
          <a:p>
            <a:pPr indent="45720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sz="1600"/>
              <a:t>Section 3: Lifestyle &amp; Tech Adoption (Q7–Q9 Charts).</a:t>
            </a:r>
            <a:endParaRPr lang="en-US" altLang="en-US" sz="1600"/>
          </a:p>
          <a:p>
            <a:pPr indent="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sz="1600"/>
              <a:t>•</a:t>
            </a:r>
            <a:r>
              <a:rPr lang="en-IN" altLang="en-US" sz="1600"/>
              <a:t>    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Footer Navigation: </a:t>
            </a:r>
            <a:r>
              <a:rPr lang="en-US" altLang="en-US" sz="1600"/>
              <a:t>Multi-tab navigation controls for seamless drill-down reporting.</a:t>
            </a:r>
            <a:endParaRPr lang="en-US" altLang="en-US" sz="1600"/>
          </a:p>
          <a:p>
            <a:pPr indent="0" algn="l">
              <a:lnSpc>
                <a:spcPct val="200000"/>
              </a:lnSpc>
              <a:buFont typeface="Wingdings" panose="05000000000000000000" charset="0"/>
              <a:buNone/>
            </a:pP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A clean grid architecture ensures intuitive usability and structured information hierarchy.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Strategic Recommendations &amp; Key Takeaways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947545" y="1822450"/>
            <a:ext cx="9095105" cy="278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Quality-Focused Assessment: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/>
              <a:t>Refine assignment evaluation rubrics so completion correlates directly with high grade outcomes.</a:t>
            </a:r>
            <a:endParaRPr lang="en-US" altLang="en-US" sz="1600"/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Student Wellness Interventions: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/>
              <a:t>Launch stress mitigation and sleep hygiene programs for high-stress student cohorts.</a:t>
            </a:r>
            <a:endParaRPr lang="en-US" altLang="en-US" sz="1600"/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Target Adult Learner Engagement: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/>
              <a:t>Offer flexible hybrid schedules for the 26–30 age group to support attendance.</a:t>
            </a:r>
            <a:endParaRPr lang="en-US" altLang="en-US" sz="1600"/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Early Warning Automation: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600"/>
              <a:t>Implement dashboard trigger alerts when student attendance drops below 75%.</a:t>
            </a:r>
            <a:endParaRPr lang="en-US" altLang="en-US" sz="1600"/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§"/>
            </a:pP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2571115" y="5825490"/>
            <a:ext cx="900620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5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Lucida Calligraphy" panose="03010101010101010101" charset="0"/>
                <a:cs typeface="Lucida Calligraphy" panose="03010101010101010101" charset="0"/>
                <a:sym typeface="+mn-ea"/>
              </a:rPr>
              <a:t>Key Insight: Data-backed interventions maximize student retention, well-being, and academic success.</a:t>
            </a: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 descr="watermarked_img_4242026161567502948 (1)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19275" y="468630"/>
            <a:ext cx="8248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latin typeface="Lucida Calligraphy" panose="03010101010101010101" charset="0"/>
                <a:cs typeface="Lucida Calligraphy" panose="03010101010101010101" charset="0"/>
              </a:rPr>
              <a:t>Conclusion</a:t>
            </a:r>
            <a:endParaRPr lang="en-US" altLang="en-US" sz="2000" b="1">
              <a:latin typeface="Lucida Calligraphy" panose="03010101010101010101" charset="0"/>
              <a:cs typeface="Lucida Calligraphy" panose="03010101010101010101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46630" y="1976120"/>
            <a:ext cx="9095105" cy="2199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80000"/>
              </a:lnSpc>
              <a:buFont typeface="Wingdings" panose="05000000000000000000" charset="0"/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Summary of Achievements: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§"/>
            </a:pPr>
            <a:r>
              <a:rPr lang="en-US" altLang="en-US" sz="1600"/>
              <a:t>End-to-end analysis of 10,000 student records with zero data quality issues.</a:t>
            </a:r>
            <a:endParaRPr lang="en-US" altLang="en-US" sz="1600"/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§"/>
            </a:pPr>
            <a:r>
              <a:rPr lang="en-US" altLang="en-US" sz="1600"/>
              <a:t>Built a multi-page interactive dashboard covering academic, behavioral, and lifestyle dimensions.</a:t>
            </a:r>
            <a:endParaRPr lang="en-US" altLang="en-US" sz="1600"/>
          </a:p>
          <a:p>
            <a:pPr indent="0" algn="l">
              <a:lnSpc>
                <a:spcPct val="180000"/>
              </a:lnSpc>
              <a:buFont typeface="Wingdings" panose="05000000000000000000" charset="0"/>
              <a:buNone/>
            </a:pP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12950190" y="5231765"/>
            <a:ext cx="142240" cy="155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</a:pPr>
            <a:endParaRPr lang="en-US" altLang="en-US" sz="15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Lucida Calligraphy" panose="03010101010101010101" charset="0"/>
              <a:cs typeface="Lucida Calligraphy" panose="03010101010101010101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8709</Words>
  <Application>WPS Presentation</Application>
  <PresentationFormat>Widescreen</PresentationFormat>
  <Paragraphs>282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Bookman Old Style</vt:lpstr>
      <vt:lpstr>Broadway</vt:lpstr>
      <vt:lpstr>Matura MT Script Capitals</vt:lpstr>
      <vt:lpstr>Magneto</vt:lpstr>
      <vt:lpstr>Lucida Calligraphy</vt:lpstr>
      <vt:lpstr>Lucida Handwriting</vt:lpstr>
      <vt:lpstr>Lucida Fax</vt:lpstr>
      <vt:lpstr>Times New Roman</vt:lpstr>
      <vt:lpstr>Lucida Sans</vt:lpstr>
      <vt:lpstr>Times New Roman</vt:lpstr>
      <vt:lpstr>Calibri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ELCOT</dc:creator>
  <cp:lastModifiedBy>ELCOT</cp:lastModifiedBy>
  <cp:revision>2</cp:revision>
  <dcterms:created xsi:type="dcterms:W3CDTF">2026-10-05T15:29:12Z</dcterms:created>
  <dcterms:modified xsi:type="dcterms:W3CDTF">2026-10-05T16:50:37Z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E3E89B88EB784490AA532DB8B11ABA80_13</vt:lpwstr>
  </property>
</Properties>
</file>